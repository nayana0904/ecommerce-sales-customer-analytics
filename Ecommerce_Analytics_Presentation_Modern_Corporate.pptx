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Laptop</c:v>
                </c:pt>
                <c:pt idx="1">
                  <c:v>Chair</c:v>
                </c:pt>
                <c:pt idx="2">
                  <c:v>Mouse</c:v>
                </c:pt>
                <c:pt idx="3">
                  <c:v>Bottle</c:v>
                </c:pt>
                <c:pt idx="4">
                  <c:v>Watch</c:v>
                </c:pt>
                <c:pt idx="5">
                  <c:v>Shoes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729099.0</c:v>
                </c:pt>
                <c:pt idx="1">
                  <c:v>718109.0</c:v>
                </c:pt>
                <c:pt idx="2">
                  <c:v>682490.0</c:v>
                </c:pt>
                <c:pt idx="3">
                  <c:v>667891.0</c:v>
                </c:pt>
                <c:pt idx="4">
                  <c:v>548440.0</c:v>
                </c:pt>
                <c:pt idx="5">
                  <c:v>462528.0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Electronics</c:v>
                </c:pt>
                <c:pt idx="1">
                  <c:v>Fashion</c:v>
                </c:pt>
                <c:pt idx="2">
                  <c:v>Furniture</c:v>
                </c:pt>
                <c:pt idx="3">
                  <c:v>Home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1411589.0</c:v>
                </c:pt>
                <c:pt idx="1">
                  <c:v>1010968.0</c:v>
                </c:pt>
                <c:pt idx="2">
                  <c:v>718109.0</c:v>
                </c:pt>
                <c:pt idx="3">
                  <c:v>667891.0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  <c:pt idx="4">
                  <c:v>May</c:v>
                </c:pt>
                <c:pt idx="5">
                  <c:v>June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434143.0</c:v>
                </c:pt>
                <c:pt idx="1">
                  <c:v>701822.0</c:v>
                </c:pt>
                <c:pt idx="2">
                  <c:v>314559.0</c:v>
                </c:pt>
                <c:pt idx="3">
                  <c:v>598507.0</c:v>
                </c:pt>
                <c:pt idx="4">
                  <c:v>875578.0</c:v>
                </c:pt>
                <c:pt idx="5">
                  <c:v>777983.0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Pune</c:v>
                </c:pt>
                <c:pt idx="1">
                  <c:v>Bengaluru</c:v>
                </c:pt>
                <c:pt idx="2">
                  <c:v>Delhi</c:v>
                </c:pt>
                <c:pt idx="3">
                  <c:v>Lucknow</c:v>
                </c:pt>
                <c:pt idx="4">
                  <c:v>Mumbai</c:v>
                </c:pt>
                <c:pt idx="5">
                  <c:v>Jaipur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894272.0</c:v>
                </c:pt>
                <c:pt idx="1">
                  <c:v>827695.0</c:v>
                </c:pt>
                <c:pt idx="2">
                  <c:v>579814.0</c:v>
                </c:pt>
                <c:pt idx="3">
                  <c:v>573937.0</c:v>
                </c:pt>
                <c:pt idx="4">
                  <c:v>520995.0</c:v>
                </c:pt>
                <c:pt idx="5">
                  <c:v>411844.0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Returned</c:v>
                </c:pt>
                <c:pt idx="1">
                  <c:v>Cancelled</c:v>
                </c:pt>
                <c:pt idx="2">
                  <c:v>Delivered</c:v>
                </c:pt>
                <c:pt idx="3">
                  <c:v>Pending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90</c:v>
                </c:pt>
                <c:pt idx="1">
                  <c:v>86</c:v>
                </c:pt>
                <c:pt idx="2">
                  <c:v>86</c:v>
                </c:pt>
                <c:pt idx="3">
                  <c:v>81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14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35661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A9191"/>
                </a:solidFill>
                <a:latin typeface="Aptos"/>
              </a:rPr>
              <a:t>E-COMMERCE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27632"/>
            <a:ext cx="3657600" cy="1417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"/>
              </a:rPr>
              <a:t>Sales &amp; Customer
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246120"/>
            <a:ext cx="34747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DCE6F0"/>
                </a:solidFill>
                <a:latin typeface="Aptos"/>
              </a:rPr>
              <a:t>A data-driven view of sales performance,
customer behavior and operations.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257800"/>
            <a:ext cx="34747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1A9191"/>
                </a:solidFill>
                <a:latin typeface="Aptos"/>
              </a:rPr>
              <a:t>PYTHON  •  SQL  •  POWER BI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66360" y="914400"/>
            <a:ext cx="58521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677482"/>
                </a:solidFill>
                <a:latin typeface="Aptos"/>
              </a:rPr>
              <a:t>PROJECT SNAPSHOT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66360" y="1417320"/>
            <a:ext cx="6035040" cy="1143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800" b="1">
                <a:solidFill>
                  <a:srgbClr val="14243A"/>
                </a:solidFill>
                <a:latin typeface="Aptos"/>
              </a:rPr>
              <a:t>From raw transactions to
business-ready insights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66360" y="3063240"/>
            <a:ext cx="1828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66360" y="3063240"/>
            <a:ext cx="64008" cy="1234440"/>
          </a:xfrm>
          <a:prstGeom prst="rect">
            <a:avLst/>
          </a:prstGeom>
          <a:solidFill>
            <a:srgbClr val="2C67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76672" y="3209544"/>
            <a:ext cx="146304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677482"/>
                </a:solidFill>
                <a:latin typeface="Aptos"/>
              </a:rPr>
              <a:t>ROWS ANALYZED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6672" y="3483864"/>
            <a:ext cx="146304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14243A"/>
                </a:solidFill>
                <a:latin typeface="Aptos"/>
              </a:rPr>
              <a:t>343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3760" y="3063240"/>
            <a:ext cx="1828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223760" y="3063240"/>
            <a:ext cx="64008" cy="1234440"/>
          </a:xfrm>
          <a:prstGeom prst="rect">
            <a:avLst/>
          </a:prstGeom>
          <a:solidFill>
            <a:srgbClr val="1A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34072" y="3209544"/>
            <a:ext cx="146304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677482"/>
                </a:solidFill>
                <a:latin typeface="Aptos"/>
              </a:rPr>
              <a:t>GROSS SALES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34072" y="3483864"/>
            <a:ext cx="146304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14243A"/>
                </a:solidFill>
                <a:latin typeface="Aptos"/>
              </a:rPr>
              <a:t>₹3.81M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81160" y="3063240"/>
            <a:ext cx="1828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81160" y="3063240"/>
            <a:ext cx="64008" cy="1234440"/>
          </a:xfrm>
          <a:prstGeom prst="rect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91472" y="3209544"/>
            <a:ext cx="146304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677482"/>
                </a:solidFill>
                <a:latin typeface="Aptos"/>
              </a:rPr>
              <a:t>NET AMOUNT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91472" y="3483864"/>
            <a:ext cx="146304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14243A"/>
                </a:solidFill>
                <a:latin typeface="Aptos"/>
              </a:rPr>
              <a:t>₹3.52M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60" y="4800600"/>
            <a:ext cx="1828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677482"/>
                </a:solidFill>
                <a:latin typeface="Aptos"/>
              </a:rPr>
              <a:t>Core workflow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66360" y="5230368"/>
            <a:ext cx="57607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14243A"/>
                </a:solidFill>
                <a:latin typeface="Aptos"/>
              </a:rPr>
              <a:t>Clean → Analyze → Query → Visualize → Recommend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14243A"/>
                </a:solidFill>
                <a:latin typeface="Aptos"/>
              </a:rPr>
              <a:t>01  |  Business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789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677482"/>
                </a:solidFill>
                <a:latin typeface="Aptos"/>
              </a:rPr>
              <a:t>What should the analysis help the business understand?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5212080" cy="1737360"/>
          </a:xfrm>
          <a:prstGeom prst="roundRect">
            <a:avLst/>
          </a:prstGeom>
          <a:solidFill>
            <a:srgbClr val="F5F8FB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39"/>
            <a:ext cx="18288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1A9191"/>
                </a:solidFill>
                <a:latin typeface="Aptos"/>
              </a:rPr>
              <a:t>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46634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14243A"/>
                </a:solidFill>
                <a:latin typeface="Aptos"/>
              </a:rPr>
              <a:t>How much are we selling?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32888"/>
            <a:ext cx="46177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677482"/>
                </a:solidFill>
                <a:latin typeface="Aptos"/>
              </a:rPr>
              <a:t>Track gross sales, net amount and illustrative profit.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508760"/>
            <a:ext cx="5212080" cy="1737360"/>
          </a:xfrm>
          <a:prstGeom prst="roundRect">
            <a:avLst/>
          </a:prstGeom>
          <a:solidFill>
            <a:srgbClr val="F5F8FB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691639"/>
            <a:ext cx="18288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1A9191"/>
                </a:solidFill>
                <a:latin typeface="Aptos"/>
              </a:rPr>
              <a:t>PRODUCT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057400"/>
            <a:ext cx="46634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14243A"/>
                </a:solidFill>
                <a:latin typeface="Aptos"/>
              </a:rPr>
              <a:t>What sells the most?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532888"/>
            <a:ext cx="46177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677482"/>
                </a:solidFill>
                <a:latin typeface="Aptos"/>
              </a:rPr>
              <a:t>Identify leading products and categories.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749039"/>
            <a:ext cx="5212080" cy="1737360"/>
          </a:xfrm>
          <a:prstGeom prst="roundRect">
            <a:avLst/>
          </a:prstGeom>
          <a:solidFill>
            <a:srgbClr val="F5F8FB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931920"/>
            <a:ext cx="18288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1A9191"/>
                </a:solidFill>
                <a:latin typeface="Aptos"/>
              </a:rPr>
              <a:t>CUSTOMER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97679"/>
            <a:ext cx="46634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14243A"/>
                </a:solidFill>
                <a:latin typeface="Aptos"/>
              </a:rPr>
              <a:t>Where is demand strongest?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773168"/>
            <a:ext cx="46177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677482"/>
                </a:solidFill>
                <a:latin typeface="Aptos"/>
              </a:rPr>
              <a:t>Compare cities and payment behavior.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3749039"/>
            <a:ext cx="5212080" cy="1737360"/>
          </a:xfrm>
          <a:prstGeom prst="roundRect">
            <a:avLst/>
          </a:prstGeom>
          <a:solidFill>
            <a:srgbClr val="F5F8FB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3931920"/>
            <a:ext cx="18288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1A9191"/>
                </a:solidFill>
                <a:latin typeface="Aptos"/>
              </a:rPr>
              <a:t>OPERATIONS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297679"/>
            <a:ext cx="46634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14243A"/>
                </a:solidFill>
                <a:latin typeface="Aptos"/>
              </a:rPr>
              <a:t>What needs attention?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773168"/>
            <a:ext cx="46177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677482"/>
                </a:solidFill>
                <a:latin typeface="Aptos"/>
              </a:rPr>
              <a:t>Review order status patterns and data quality.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897880"/>
            <a:ext cx="10698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14243A"/>
                </a:solidFill>
                <a:latin typeface="Aptos"/>
              </a:rPr>
              <a:t>The goal is not only to report numbers — it is to turn transaction data into decisions.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09960" y="6419088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677482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14243A"/>
                </a:solidFill>
                <a:latin typeface="Aptos"/>
              </a:rPr>
              <a:t>02  |  Data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789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677482"/>
                </a:solidFill>
                <a:latin typeface="Aptos"/>
              </a:rPr>
              <a:t>A repeatable cleaning and feature-engineering pipeline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645920"/>
            <a:ext cx="475488" cy="475488"/>
          </a:xfrm>
          <a:prstGeom prst="ellipse">
            <a:avLst/>
          </a:prstGeom>
          <a:solidFill>
            <a:srgbClr val="1A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475488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19202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4243A"/>
                </a:solidFill>
                <a:latin typeface="Aptos"/>
              </a:rPr>
              <a:t>Remove duplicates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19202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677482"/>
                </a:solidFill>
                <a:latin typeface="Aptos"/>
              </a:rPr>
              <a:t>Drop duplicate records.</a:t>
            </a:r>
          </a:p>
        </p:txBody>
      </p:sp>
      <p:sp>
        <p:nvSpPr>
          <p:cNvPr id="9" name="Rectangle 8"/>
          <p:cNvSpPr/>
          <p:nvPr/>
        </p:nvSpPr>
        <p:spPr>
          <a:xfrm>
            <a:off x="1143000" y="1865376"/>
            <a:ext cx="1600200" cy="32004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907791" y="1645920"/>
            <a:ext cx="475488" cy="475488"/>
          </a:xfrm>
          <a:prstGeom prst="ellipse">
            <a:avLst/>
          </a:prstGeom>
          <a:solidFill>
            <a:srgbClr val="1A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07791" y="1645920"/>
            <a:ext cx="475488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7791" y="2331720"/>
            <a:ext cx="19202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4243A"/>
                </a:solidFill>
                <a:latin typeface="Aptos"/>
              </a:rPr>
              <a:t>Standardize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07791" y="2834640"/>
            <a:ext cx="19202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677482"/>
                </a:solidFill>
                <a:latin typeface="Aptos"/>
              </a:rPr>
              <a:t>Clean names, city and state text.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10711" y="1865376"/>
            <a:ext cx="1600200" cy="32004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175504" y="1645920"/>
            <a:ext cx="475488" cy="475488"/>
          </a:xfrm>
          <a:prstGeom prst="ellipse">
            <a:avLst/>
          </a:prstGeom>
          <a:solidFill>
            <a:srgbClr val="1A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75504" y="1645920"/>
            <a:ext cx="475488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75504" y="2331720"/>
            <a:ext cx="19202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4243A"/>
                </a:solidFill>
                <a:latin typeface="Aptos"/>
              </a:rPr>
              <a:t>Validate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75504" y="2834640"/>
            <a:ext cx="19202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677482"/>
                </a:solidFill>
                <a:latin typeface="Aptos"/>
              </a:rPr>
              <a:t>Keep valid emails, positive quantity and usable prices.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78424" y="1865376"/>
            <a:ext cx="1600200" cy="32004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443215" y="1645920"/>
            <a:ext cx="475488" cy="475488"/>
          </a:xfrm>
          <a:prstGeom prst="ellipse">
            <a:avLst/>
          </a:prstGeom>
          <a:solidFill>
            <a:srgbClr val="1A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43215" y="1645920"/>
            <a:ext cx="475488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43215" y="2331720"/>
            <a:ext cx="19202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4243A"/>
                </a:solidFill>
                <a:latin typeface="Aptos"/>
              </a:rPr>
              <a:t>Handle missing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43215" y="2834640"/>
            <a:ext cx="19202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677482"/>
                </a:solidFill>
                <a:latin typeface="Aptos"/>
              </a:rPr>
              <a:t>Fill discount/phone and delivery-date gaps.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46136" y="1865376"/>
            <a:ext cx="1600200" cy="32004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710928" y="1645920"/>
            <a:ext cx="475488" cy="475488"/>
          </a:xfrm>
          <a:prstGeom prst="ellipse">
            <a:avLst/>
          </a:prstGeom>
          <a:solidFill>
            <a:srgbClr val="1A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10928" y="1645920"/>
            <a:ext cx="475488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10928" y="2331720"/>
            <a:ext cx="19202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4243A"/>
                </a:solidFill>
                <a:latin typeface="Aptos"/>
              </a:rPr>
              <a:t>Engineer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10928" y="2834640"/>
            <a:ext cx="19202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677482"/>
                </a:solidFill>
                <a:latin typeface="Aptos"/>
              </a:rPr>
              <a:t>Sales, Net Amount, Profit, Month, Year, Weekday.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4617720"/>
            <a:ext cx="10835640" cy="960120"/>
          </a:xfrm>
          <a:prstGeom prst="roundRect">
            <a:avLst/>
          </a:prstGeom>
          <a:solidFill>
            <a:srgbClr val="14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864608"/>
            <a:ext cx="103327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Sales = Qty × Unit Price     |     Net Amount = Sales − Discount     |     Profit = Net Amount × 20%*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650992"/>
            <a:ext cx="103327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677482"/>
                </a:solidFill>
                <a:latin typeface="Aptos"/>
              </a:rPr>
              <a:t>*Profit is an illustrative project assumption documented in the analysis.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419088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677482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14243A"/>
                </a:solidFill>
                <a:latin typeface="Aptos"/>
              </a:rPr>
              <a:t>03  |  Executive KPI Scorecard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789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677482"/>
                </a:solidFill>
                <a:latin typeface="Aptos"/>
              </a:rPr>
              <a:t>Headline numbers from the cleaned analysis dataset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2514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64008" cy="1417320"/>
          </a:xfrm>
          <a:prstGeom prst="rect">
            <a:avLst/>
          </a:prstGeom>
          <a:solidFill>
            <a:srgbClr val="2C67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472184"/>
            <a:ext cx="214884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677482"/>
                </a:solidFill>
                <a:latin typeface="Aptos"/>
              </a:rPr>
              <a:t>GROSS SALES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746504"/>
            <a:ext cx="214884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14243A"/>
                </a:solidFill>
                <a:latin typeface="Aptos"/>
              </a:rPr>
              <a:t>₹3,808,557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325880"/>
            <a:ext cx="2514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9000" y="1325880"/>
            <a:ext cx="64008" cy="1417320"/>
          </a:xfrm>
          <a:prstGeom prst="rect">
            <a:avLst/>
          </a:prstGeom>
          <a:solidFill>
            <a:srgbClr val="1A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9312" y="1472184"/>
            <a:ext cx="214884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677482"/>
                </a:solidFill>
                <a:latin typeface="Aptos"/>
              </a:rPr>
              <a:t>NET AMOUNT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9312" y="1746504"/>
            <a:ext cx="214884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14243A"/>
                </a:solidFill>
                <a:latin typeface="Aptos"/>
              </a:rPr>
              <a:t>₹3,515,432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325880"/>
            <a:ext cx="2514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325880"/>
            <a:ext cx="64008" cy="1417320"/>
          </a:xfrm>
          <a:prstGeom prst="rect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472184"/>
            <a:ext cx="214884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677482"/>
                </a:solidFill>
                <a:latin typeface="Aptos"/>
              </a:rPr>
              <a:t>ILLUSTRATIVE PROFIT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1746504"/>
            <a:ext cx="214884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14243A"/>
                </a:solidFill>
                <a:latin typeface="Aptos"/>
              </a:rPr>
              <a:t>₹703,086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15400" y="1325880"/>
            <a:ext cx="2514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5400" y="1325880"/>
            <a:ext cx="64008" cy="1417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25712" y="1472184"/>
            <a:ext cx="214884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677482"/>
                </a:solidFill>
                <a:latin typeface="Aptos"/>
              </a:rPr>
              <a:t>QUANTITY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25712" y="1746504"/>
            <a:ext cx="214884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14243A"/>
                </a:solidFill>
                <a:latin typeface="Aptos"/>
              </a:rPr>
              <a:t>1,143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246120"/>
            <a:ext cx="21945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14243A"/>
                </a:solidFill>
                <a:latin typeface="Aptos"/>
              </a:rPr>
              <a:t>What stands out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657600"/>
            <a:ext cx="6492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A3746"/>
                </a:solidFill>
                <a:latin typeface="Aptos"/>
              </a:defRPr>
            </a:pPr>
            <a:r>
              <a:t>• Average sales per analyzed row: ₹11,104</a:t>
            </a:r>
          </a:p>
          <a:p>
            <a:pPr>
              <a:spcAft>
                <a:spcPts val="900"/>
              </a:spcAft>
              <a:defRPr sz="1300">
                <a:solidFill>
                  <a:srgbClr val="2A3746"/>
                </a:solidFill>
                <a:latin typeface="Aptos"/>
              </a:defRPr>
            </a:pPr>
            <a:r>
              <a:t>• Top category: Electronics</a:t>
            </a:r>
          </a:p>
          <a:p>
            <a:pPr>
              <a:spcAft>
                <a:spcPts val="900"/>
              </a:spcAft>
              <a:defRPr sz="1300">
                <a:solidFill>
                  <a:srgbClr val="2A3746"/>
                </a:solidFill>
                <a:latin typeface="Aptos"/>
              </a:defRPr>
            </a:pPr>
            <a:r>
              <a:t>• Top product: Laptop</a:t>
            </a:r>
          </a:p>
          <a:p>
            <a:pPr>
              <a:spcAft>
                <a:spcPts val="900"/>
              </a:spcAft>
              <a:defRPr sz="1300">
                <a:solidFill>
                  <a:srgbClr val="2A3746"/>
                </a:solidFill>
                <a:latin typeface="Aptos"/>
              </a:defRPr>
            </a:pPr>
            <a:r>
              <a:t>• Top city: Pune</a:t>
            </a:r>
          </a:p>
          <a:p>
            <a:pPr>
              <a:spcAft>
                <a:spcPts val="900"/>
              </a:spcAft>
              <a:defRPr sz="1300">
                <a:solidFill>
                  <a:srgbClr val="2A3746"/>
                </a:solidFill>
                <a:latin typeface="Aptos"/>
              </a:defRPr>
            </a:pPr>
            <a:r>
              <a:t>• Most-used payment mode: COD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26679" y="3246120"/>
            <a:ext cx="3886200" cy="2240280"/>
          </a:xfrm>
          <a:prstGeom prst="roundRect">
            <a:avLst/>
          </a:prstGeom>
          <a:solidFill>
            <a:srgbClr val="F5F8FB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1000" y="3520440"/>
            <a:ext cx="32004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1A9191"/>
                </a:solidFill>
                <a:latin typeface="Aptos"/>
              </a:rPr>
              <a:t>Management lens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0" y="3977639"/>
            <a:ext cx="31546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14243A"/>
                </a:solidFill>
                <a:latin typeface="Aptos"/>
              </a:rPr>
              <a:t>The dashboard should make it easy to move from a KPI → driver → action.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1000" y="5074920"/>
            <a:ext cx="31546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677482"/>
                </a:solidFill>
                <a:latin typeface="Aptos"/>
              </a:rPr>
              <a:t>Example: sales ↓ → check category, city and month.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09960" y="6419088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677482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14243A"/>
                </a:solidFill>
                <a:latin typeface="Aptos"/>
              </a:rPr>
              <a:t>04  |  Product &amp; Category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789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677482"/>
                </a:solidFill>
                <a:latin typeface="Aptos"/>
              </a:rPr>
              <a:t>Find the revenue concentration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94360" y="1325880"/>
          <a:ext cx="5486400" cy="4526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1097280"/>
            <a:ext cx="27432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14243A"/>
                </a:solidFill>
                <a:latin typeface="Aptos"/>
              </a:rPr>
              <a:t>Top products by sales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0" y="1325880"/>
          <a:ext cx="5166360" cy="45262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37960" y="1097280"/>
            <a:ext cx="27432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14243A"/>
                </a:solidFill>
                <a:latin typeface="Aptos"/>
              </a:rPr>
              <a:t>Category contribution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989320"/>
            <a:ext cx="105156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1A9191"/>
                </a:solidFill>
                <a:latin typeface="Aptos"/>
              </a:rPr>
              <a:t>Insight: Laptop is the leading product, while Electronics is the leading category.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19088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677482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14243A"/>
                </a:solidFill>
                <a:latin typeface="Aptos"/>
              </a:rPr>
              <a:t>05  |  Monthly Sales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789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677482"/>
                </a:solidFill>
                <a:latin typeface="Aptos"/>
              </a:rPr>
              <a:t>Use time patterns to plan inventory, campaigns and targets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280160"/>
          <a:ext cx="731520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275320" y="1508760"/>
            <a:ext cx="3337560" cy="3886200"/>
          </a:xfrm>
          <a:prstGeom prst="roundRect">
            <a:avLst/>
          </a:prstGeom>
          <a:solidFill>
            <a:srgbClr val="F5F8FB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49640" y="1828800"/>
            <a:ext cx="2743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1A9191"/>
                </a:solidFill>
                <a:latin typeface="Aptos"/>
              </a:rPr>
              <a:t>Trend readout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2377440"/>
            <a:ext cx="27432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1">
                <a:solidFill>
                  <a:srgbClr val="14243A"/>
                </a:solidFill>
                <a:latin typeface="Aptos"/>
              </a:rPr>
              <a:t>Strongest month
May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3429000"/>
            <a:ext cx="27432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1">
                <a:solidFill>
                  <a:srgbClr val="14243A"/>
                </a:solidFill>
                <a:latin typeface="Aptos"/>
              </a:rPr>
              <a:t>Weakest month
March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4572000"/>
            <a:ext cx="26517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677482"/>
                </a:solidFill>
                <a:latin typeface="Aptos"/>
              </a:rPr>
              <a:t>Use monthly swings to align promotions, stock and operational capacity.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419088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677482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14243A"/>
                </a:solidFill>
                <a:latin typeface="Aptos"/>
              </a:rPr>
              <a:t>06  |  Geography &amp; Payment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789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677482"/>
                </a:solidFill>
                <a:latin typeface="Aptos"/>
              </a:rPr>
              <a:t>Where customers buy and how they pay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94360" y="1325880"/>
          <a:ext cx="54864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1097280"/>
            <a:ext cx="27432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14243A"/>
                </a:solidFill>
                <a:latin typeface="Aptos"/>
              </a:rPr>
              <a:t>Top cities by sales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60" y="1097280"/>
            <a:ext cx="27432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14243A"/>
                </a:solidFill>
                <a:latin typeface="Aptos"/>
              </a:rPr>
              <a:t>Payment mode mix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554480"/>
            <a:ext cx="20116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2A3746"/>
                </a:solidFill>
                <a:latin typeface="Aptos"/>
              </a:rPr>
              <a:t>COD</a:t>
            </a:r>
          </a:p>
        </p:txBody>
      </p:sp>
      <p:sp>
        <p:nvSpPr>
          <p:cNvPr id="9" name="Rectangle 8"/>
          <p:cNvSpPr/>
          <p:nvPr/>
        </p:nvSpPr>
        <p:spPr>
          <a:xfrm>
            <a:off x="8458200" y="1627632"/>
            <a:ext cx="2423160" cy="201168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58200" y="1627632"/>
            <a:ext cx="579297" cy="201168"/>
          </a:xfrm>
          <a:prstGeom prst="rect">
            <a:avLst/>
          </a:prstGeom>
          <a:solidFill>
            <a:srgbClr val="1A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0" y="1536192"/>
            <a:ext cx="411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1">
                <a:solidFill>
                  <a:srgbClr val="14243A"/>
                </a:solidFill>
                <a:latin typeface="Aptos"/>
              </a:rPr>
              <a:t>82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212848"/>
            <a:ext cx="20116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2A3746"/>
                </a:solidFill>
                <a:latin typeface="Aptos"/>
              </a:rPr>
              <a:t>Wallet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58200" y="2286000"/>
            <a:ext cx="2423160" cy="201168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58200" y="2286000"/>
            <a:ext cx="565168" cy="201168"/>
          </a:xfrm>
          <a:prstGeom prst="rect">
            <a:avLst/>
          </a:prstGeom>
          <a:solidFill>
            <a:srgbClr val="1A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0" y="2194560"/>
            <a:ext cx="411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1">
                <a:solidFill>
                  <a:srgbClr val="14243A"/>
                </a:solidFill>
                <a:latin typeface="Aptos"/>
              </a:rPr>
              <a:t>80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871215"/>
            <a:ext cx="20116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2A3746"/>
                </a:solidFill>
                <a:latin typeface="Aptos"/>
              </a:rPr>
              <a:t>NetBanking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58200" y="2944368"/>
            <a:ext cx="2423160" cy="201168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458200" y="2944368"/>
            <a:ext cx="508651" cy="201168"/>
          </a:xfrm>
          <a:prstGeom prst="rect">
            <a:avLst/>
          </a:prstGeom>
          <a:solidFill>
            <a:srgbClr val="1A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0" y="2852927"/>
            <a:ext cx="411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1">
                <a:solidFill>
                  <a:srgbClr val="14243A"/>
                </a:solidFill>
                <a:latin typeface="Aptos"/>
              </a:rPr>
              <a:t>72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529584"/>
            <a:ext cx="20116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2A3746"/>
                </a:solidFill>
                <a:latin typeface="Aptos"/>
              </a:rPr>
              <a:t>UPI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58200" y="3602736"/>
            <a:ext cx="2423160" cy="201168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58200" y="3602736"/>
            <a:ext cx="416811" cy="201168"/>
          </a:xfrm>
          <a:prstGeom prst="rect">
            <a:avLst/>
          </a:prstGeom>
          <a:solidFill>
            <a:srgbClr val="1A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3511296"/>
            <a:ext cx="411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1">
                <a:solidFill>
                  <a:srgbClr val="14243A"/>
                </a:solidFill>
                <a:latin typeface="Aptos"/>
              </a:rPr>
              <a:t>59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187952"/>
            <a:ext cx="20116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2A3746"/>
                </a:solidFill>
                <a:latin typeface="Aptos"/>
              </a:rPr>
              <a:t>Card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58200" y="4261104"/>
            <a:ext cx="2423160" cy="201168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458200" y="4261104"/>
            <a:ext cx="353230" cy="201168"/>
          </a:xfrm>
          <a:prstGeom prst="rect">
            <a:avLst/>
          </a:prstGeom>
          <a:solidFill>
            <a:srgbClr val="1A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0" y="4169664"/>
            <a:ext cx="411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1">
                <a:solidFill>
                  <a:srgbClr val="14243A"/>
                </a:solidFill>
                <a:latin typeface="Aptos"/>
              </a:rPr>
              <a:t>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5623560"/>
            <a:ext cx="48463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1A9191"/>
                </a:solidFill>
                <a:latin typeface="Aptos"/>
              </a:rPr>
              <a:t>Highest-sales city: Pune  •  Most-used mode: COD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09960" y="6419088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677482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14243A"/>
                </a:solidFill>
                <a:latin typeface="Aptos"/>
              </a:rPr>
              <a:t>07  |  Order Status &amp;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789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677482"/>
                </a:solidFill>
                <a:latin typeface="Aptos"/>
              </a:rPr>
              <a:t>Status distribution highlights where follow-up may be needed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85800" y="1325880"/>
          <a:ext cx="457200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68680" y="1078992"/>
            <a:ext cx="27432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14243A"/>
                </a:solidFill>
                <a:latin typeface="Aptos"/>
              </a:rPr>
              <a:t>Order status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23560" y="1325880"/>
            <a:ext cx="2743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14243A"/>
                </a:solidFill>
                <a:latin typeface="Aptos"/>
              </a:rPr>
              <a:t>What this means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60" y="1783080"/>
            <a:ext cx="5303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A3746"/>
                </a:solidFill>
                <a:latin typeface="Aptos"/>
              </a:defRPr>
            </a:pPr>
            <a:r>
              <a:t>• Returned is the largest status group.</a:t>
            </a:r>
          </a:p>
          <a:p>
            <a:pPr>
              <a:spcAft>
                <a:spcPts val="900"/>
              </a:spcAft>
              <a:defRPr sz="1400">
                <a:solidFill>
                  <a:srgbClr val="2A3746"/>
                </a:solidFill>
                <a:latin typeface="Aptos"/>
              </a:defRPr>
            </a:pPr>
            <a:r>
              <a:t>• Status analysis can guide service recovery and fulfillment review.</a:t>
            </a:r>
          </a:p>
          <a:p>
            <a:pPr>
              <a:spcAft>
                <a:spcPts val="900"/>
              </a:spcAft>
              <a:defRPr sz="1400">
                <a:solidFill>
                  <a:srgbClr val="2A3746"/>
                </a:solidFill>
                <a:latin typeface="Aptos"/>
              </a:defRPr>
            </a:pPr>
            <a:r>
              <a:t>• Monitor cancelled/returned orders separately from delivered orders.</a:t>
            </a:r>
          </a:p>
          <a:p>
            <a:pPr>
              <a:spcAft>
                <a:spcPts val="900"/>
              </a:spcAft>
              <a:defRPr sz="1400">
                <a:solidFill>
                  <a:srgbClr val="2A3746"/>
                </a:solidFill>
                <a:latin typeface="Aptos"/>
              </a:defRPr>
            </a:pPr>
            <a:r>
              <a:t>• Use the Power BI slicers to drill into category, city, date and payment mode.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23560" y="4572000"/>
            <a:ext cx="5166360" cy="914400"/>
          </a:xfrm>
          <a:prstGeom prst="roundRect">
            <a:avLst/>
          </a:prstGeom>
          <a:solidFill>
            <a:srgbClr val="F5F8FB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4736592"/>
            <a:ext cx="146304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1A9191"/>
                </a:solidFill>
                <a:latin typeface="Aptos"/>
              </a:rPr>
              <a:t>Data-quality note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5010912"/>
            <a:ext cx="45720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677482"/>
                </a:solidFill>
                <a:latin typeface="Aptos"/>
              </a:rPr>
              <a:t>Order_Date has missing values in the source; metrics use the documented cleaning rules.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419088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677482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14243A"/>
                </a:solidFill>
                <a:latin typeface="Aptos"/>
              </a:rPr>
              <a:t>08  |  Technical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789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677482"/>
                </a:solidFill>
                <a:latin typeface="Aptos"/>
              </a:rPr>
              <a:t>One project, three analytical layers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3337560" cy="4206240"/>
          </a:xfrm>
          <a:prstGeom prst="roundRect">
            <a:avLst/>
          </a:prstGeom>
          <a:solidFill>
            <a:srgbClr val="F5F8FB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828800"/>
            <a:ext cx="2788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1A9191"/>
                </a:solidFill>
                <a:latin typeface="Aptos"/>
              </a:rPr>
              <a:t>PYTHON / PANDAS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267712"/>
            <a:ext cx="2788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14243A"/>
                </a:solidFill>
                <a:latin typeface="Aptos"/>
              </a:rPr>
              <a:t>Clean + transform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971800"/>
            <a:ext cx="2788920" cy="1691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2A3746"/>
                </a:solidFill>
                <a:latin typeface="Aptos"/>
              </a:rPr>
              <a:t>• Handle nulls and duplicates
• Validate numeric fields
• Engineer business metrics
• Export cleaned 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41648" y="2971800"/>
            <a:ext cx="3200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>
                <a:solidFill>
                  <a:srgbClr val="2C67B1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508760"/>
            <a:ext cx="3337560" cy="4206240"/>
          </a:xfrm>
          <a:prstGeom prst="roundRect">
            <a:avLst/>
          </a:prstGeom>
          <a:solidFill>
            <a:srgbClr val="F5F8FB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90872" y="1828800"/>
            <a:ext cx="2788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1A9191"/>
                </a:solidFill>
                <a:latin typeface="Aptos"/>
              </a:rPr>
              <a:t>MYSQL / 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0872" y="2267712"/>
            <a:ext cx="2788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14243A"/>
                </a:solidFill>
                <a:latin typeface="Aptos"/>
              </a:rPr>
              <a:t>Query + validate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0872" y="2971800"/>
            <a:ext cx="2788920" cy="1691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2A3746"/>
                </a:solidFill>
                <a:latin typeface="Aptos"/>
              </a:rPr>
              <a:t>• Store orders table
• Aggregate sales
• Rank products/cities
• Analyze payment &amp; status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36408" y="2971800"/>
            <a:ext cx="3200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>
                <a:solidFill>
                  <a:srgbClr val="2C67B1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508760"/>
            <a:ext cx="3337560" cy="4206240"/>
          </a:xfrm>
          <a:prstGeom prst="roundRect">
            <a:avLst/>
          </a:prstGeom>
          <a:solidFill>
            <a:srgbClr val="F5F8FB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85632" y="1828800"/>
            <a:ext cx="2788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1A9191"/>
                </a:solidFill>
                <a:latin typeface="Aptos"/>
              </a:rPr>
              <a:t>POWER BI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85632" y="2267712"/>
            <a:ext cx="2788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14243A"/>
                </a:solidFill>
                <a:latin typeface="Aptos"/>
              </a:rPr>
              <a:t>Visualize + interact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85632" y="2971800"/>
            <a:ext cx="2788920" cy="1691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2A3746"/>
                </a:solidFill>
                <a:latin typeface="Aptos"/>
              </a:rPr>
              <a:t>• KPI cards
• Charts &amp; trends
• Slicers for drill-down
• Executive 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989320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14243A"/>
                </a:solidFill>
                <a:latin typeface="Aptos"/>
              </a:rPr>
              <a:t>End-to-end flow: raw transaction data → trusted dataset → SQL analysis → interactive 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419088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677482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14243A"/>
                </a:solidFill>
                <a:latin typeface="Aptos"/>
              </a:rPr>
              <a:t>09  |  Business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789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677482"/>
                </a:solidFill>
                <a:latin typeface="Aptos"/>
              </a:rPr>
              <a:t>Actions linked directly to the observed patterns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234440"/>
            <a:ext cx="457200" cy="457200"/>
          </a:xfrm>
          <a:prstGeom prst="ellipse">
            <a:avLst/>
          </a:prstGeom>
          <a:solidFill>
            <a:srgbClr val="14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216152"/>
            <a:ext cx="25603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14243A"/>
                </a:solidFill>
                <a:latin typeface="Aptos"/>
              </a:rPr>
              <a:t>Protect the winners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03320" y="1216152"/>
            <a:ext cx="73152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2A3746"/>
                </a:solidFill>
                <a:latin typeface="Aptos"/>
              </a:rPr>
              <a:t>Prioritize stock and promotions around leading products such as Laptop.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167128"/>
            <a:ext cx="457200" cy="457200"/>
          </a:xfrm>
          <a:prstGeom prst="ellipse">
            <a:avLst/>
          </a:prstGeom>
          <a:solidFill>
            <a:srgbClr val="14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167128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148840"/>
            <a:ext cx="25603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14243A"/>
                </a:solidFill>
                <a:latin typeface="Aptos"/>
              </a:rPr>
              <a:t>Double down on demand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2148840"/>
            <a:ext cx="73152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2A3746"/>
                </a:solidFill>
                <a:latin typeface="Aptos"/>
              </a:rPr>
              <a:t>Investigate why Pune leads sales and replicate successful tactics in other cities.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099816"/>
            <a:ext cx="457200" cy="457200"/>
          </a:xfrm>
          <a:prstGeom prst="ellipse">
            <a:avLst/>
          </a:prstGeom>
          <a:solidFill>
            <a:srgbClr val="14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099816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081528"/>
            <a:ext cx="25603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14243A"/>
                </a:solidFill>
                <a:latin typeface="Aptos"/>
              </a:rPr>
              <a:t>Plan around seasonality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3081528"/>
            <a:ext cx="73152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2A3746"/>
                </a:solidFill>
                <a:latin typeface="Aptos"/>
              </a:rPr>
              <a:t>Use the May peak and March low as signals for campaign and inventory planning.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032504"/>
            <a:ext cx="457200" cy="457200"/>
          </a:xfrm>
          <a:prstGeom prst="ellipse">
            <a:avLst/>
          </a:prstGeom>
          <a:solidFill>
            <a:srgbClr val="14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032504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014216"/>
            <a:ext cx="25603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14243A"/>
                </a:solidFill>
                <a:latin typeface="Aptos"/>
              </a:rPr>
              <a:t>Track operational leakage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4014216"/>
            <a:ext cx="73152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2A3746"/>
                </a:solidFill>
                <a:latin typeface="Aptos"/>
              </a:rPr>
              <a:t>Review the largest status group (Returned) and isolate cancellation/return drivers.</a:t>
            </a:r>
          </a:p>
        </p:txBody>
      </p:sp>
      <p:sp>
        <p:nvSpPr>
          <p:cNvPr id="21" name="Oval 20"/>
          <p:cNvSpPr/>
          <p:nvPr/>
        </p:nvSpPr>
        <p:spPr>
          <a:xfrm>
            <a:off x="731520" y="4965192"/>
            <a:ext cx="457200" cy="457200"/>
          </a:xfrm>
          <a:prstGeom prst="ellipse">
            <a:avLst/>
          </a:prstGeom>
          <a:solidFill>
            <a:srgbClr val="14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965192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4946904"/>
            <a:ext cx="25603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14243A"/>
                </a:solidFill>
                <a:latin typeface="Aptos"/>
              </a:rPr>
              <a:t>Make the dashboard actionable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03320" y="4946904"/>
            <a:ext cx="73152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2A3746"/>
                </a:solidFill>
                <a:latin typeface="Aptos"/>
              </a:rPr>
              <a:t>Use slicers to move from an overall KPI to a specific category, city, payment mode or time period.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419088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677482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45720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1A9191"/>
                </a:solidFill>
                <a:latin typeface="Aptos"/>
              </a:rPr>
              <a:t>10  | 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7772400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"/>
              </a:rPr>
              <a:t>A complete analytics workflow
from data to decision.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788920"/>
            <a:ext cx="713232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DCE6F0"/>
                </a:solidFill>
                <a:latin typeface="Aptos"/>
              </a:rPr>
              <a:t>The project combines data cleaning, SQL analysis and Power BI visualization to reveal sales drivers, demand patterns and operational signals.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09160"/>
            <a:ext cx="23774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1A9191"/>
                </a:solidFill>
                <a:latin typeface="Aptos"/>
              </a:rPr>
              <a:t>CLEAN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138928"/>
            <a:ext cx="26517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Trust the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4709160"/>
            <a:ext cx="23774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1A9191"/>
                </a:solidFill>
                <a:latin typeface="Aptos"/>
              </a:rPr>
              <a:t>ANALYZE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5138928"/>
            <a:ext cx="26517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Find the drivers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4709160"/>
            <a:ext cx="23774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1A9191"/>
                </a:solidFill>
                <a:latin typeface="Aptos"/>
              </a:rPr>
              <a:t>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5138928"/>
            <a:ext cx="26517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Turn insight into 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81160" y="5715000"/>
            <a:ext cx="21031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700" b="1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9960" y="6419088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677482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